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hnny Appleseed"/>
          <p:cNvSpPr txBox="1"/>
          <p:nvPr>
            <p:ph type="body" sz="quarter" idx="21"/>
          </p:nvPr>
        </p:nvSpPr>
        <p:spPr>
          <a:xfrm>
            <a:off x="2387600" y="8953500"/>
            <a:ext cx="19621500" cy="58552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i="1" sz="32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2387600" y="6076950"/>
            <a:ext cx="19621500" cy="825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52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able 1"/>
          <p:cNvGraphicFramePr/>
          <p:nvPr/>
        </p:nvGraphicFramePr>
        <p:xfrm>
          <a:off x="2491878" y="3084541"/>
          <a:ext cx="20466051" cy="918237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860687"/>
                <a:gridCol w="8003687"/>
                <a:gridCol w="7601675"/>
              </a:tblGrid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Type_Coding</a:t>
                      </a:r>
                    </a:p>
                  </a:txBody>
                  <a:tcPr marL="101600" marR="101600" marT="101600" marB="101600" anchor="b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annual_kwh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yearly electricity use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(kWh/year)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sq_meters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indoor living area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(m²)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epc_label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energy performance certificate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Ordinal: A, B, ..., F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32891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building_era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construction period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Ordinal: ref = Pre-1970, 1970-2000, post-2000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income_euro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 household income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(€/year)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occupancy_count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permanent residents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Count: 1, 2, ..., n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dist_to_brussels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distance to Brussels center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(km)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roof_color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roof tile color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Categorical: red, black, other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87260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pet_ownership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owner has a pet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4100">
                          <a:solidFill>
                            <a:srgbClr val="33333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Binary: 0 = No, 1 = Yes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</a:tbl>
          </a:graphicData>
        </a:graphic>
      </p:graphicFrame>
      <p:sp>
        <p:nvSpPr>
          <p:cNvPr id="138" name="Text"/>
          <p:cNvSpPr txBox="1"/>
          <p:nvPr/>
        </p:nvSpPr>
        <p:spPr>
          <a:xfrm>
            <a:off x="8477250" y="3786158"/>
            <a:ext cx="127000" cy="5271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0"/>
              </a:spcBef>
              <a:defRPr sz="15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139" name="Data Dictionary"/>
          <p:cNvSpPr txBox="1"/>
          <p:nvPr/>
        </p:nvSpPr>
        <p:spPr>
          <a:xfrm>
            <a:off x="2013260" y="1264851"/>
            <a:ext cx="3827934" cy="7214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41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Data Dictionary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Table 1"/>
          <p:cNvGraphicFramePr/>
          <p:nvPr/>
        </p:nvGraphicFramePr>
        <p:xfrm>
          <a:off x="1714500" y="1295400"/>
          <a:ext cx="21623140" cy="122866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837154"/>
                <a:gridCol w="3527985"/>
                <a:gridCol w="2162314"/>
                <a:gridCol w="1804637"/>
                <a:gridCol w="1967217"/>
                <a:gridCol w="3186568"/>
                <a:gridCol w="2438700"/>
                <a:gridCol w="2162314"/>
                <a:gridCol w="1918444"/>
                <a:gridCol w="617803"/>
              </a:tblGrid>
              <a:tr h="153607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annual_kwh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sq_meters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epc_label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building_era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income_euro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occupancy_count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dist_to_brussels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roof_color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pet_ownership</a:t>
                      </a:r>
                    </a:p>
                  </a:txBody>
                  <a:tcPr marL="101600" marR="101600" marT="101600" marB="10160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28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267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5372190.00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156.15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C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1970-2000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44737.59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118.72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Black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0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1330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4635780.00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114.28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D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12830.40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70.93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Other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1570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4428940.00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154.49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F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64433.95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75.62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Black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0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369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4004330.00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133.92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D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1970-2000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58718.83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107.05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Black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0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2955140.00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100.34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A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Post-2000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31930.12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3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114.33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Other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17197.12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268.11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F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115384.00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81.56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Red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1038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16395.02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304.18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E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131393.77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50.92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Other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0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1051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14024.23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204.98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F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81213.77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79.91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Red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452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13872.60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177.94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F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73933.89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30.24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Other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  <a:tr h="1075057"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2057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13821.56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162.59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F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Pre-1970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36281.03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7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110.78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Black</a:t>
                      </a:r>
                    </a:p>
                  </a:txBody>
                  <a:tcPr marL="101600" marR="101600" marT="101600" marB="10160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2800">
                          <a:sym typeface="Helvetica Neue"/>
                        </a:rPr>
                        <a:t>0</a:t>
                      </a:r>
                    </a:p>
                  </a:txBody>
                  <a:tcPr marL="101600" marR="101600" marT="101600" marB="10160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Table 1"/>
          <p:cNvGraphicFramePr/>
          <p:nvPr/>
        </p:nvGraphicFramePr>
        <p:xfrm>
          <a:off x="6856455" y="3047914"/>
          <a:ext cx="6699800" cy="762017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870899"/>
                <a:gridCol w="1785786"/>
                <a:gridCol w="2043113"/>
              </a:tblGrid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Variable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Missing_n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Missing_pct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annual_kwh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sq_meters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epc_label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income_euro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occupancy_count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dist_to_brussels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building_era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roof_color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76201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pet_ownership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0.0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  <p:sp>
        <p:nvSpPr>
          <p:cNvPr id="144" name="Missing data summary"/>
          <p:cNvSpPr txBox="1"/>
          <p:nvPr/>
        </p:nvSpPr>
        <p:spPr>
          <a:xfrm>
            <a:off x="6837552" y="576636"/>
            <a:ext cx="6280405" cy="2281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Missing data summary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ummary tables for categorical varibales"/>
          <p:cNvSpPr txBox="1"/>
          <p:nvPr/>
        </p:nvSpPr>
        <p:spPr>
          <a:xfrm>
            <a:off x="277255" y="334644"/>
            <a:ext cx="5008090" cy="80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500"/>
              </a:spcBef>
              <a:defRPr sz="2133">
                <a:solidFill>
                  <a:srgbClr val="0F476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Summary tables for categorical varibales</a:t>
            </a:r>
          </a:p>
        </p:txBody>
      </p:sp>
      <p:graphicFrame>
        <p:nvGraphicFramePr>
          <p:cNvPr id="147" name="Table 1"/>
          <p:cNvGraphicFramePr/>
          <p:nvPr/>
        </p:nvGraphicFramePr>
        <p:xfrm>
          <a:off x="12388850" y="552877"/>
          <a:ext cx="9931301" cy="1261024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3051047"/>
                <a:gridCol w="2627284"/>
                <a:gridCol w="4252969"/>
              </a:tblGrid>
              <a:tr h="900731">
                <a:tc>
                  <a:txBody>
                    <a:bodyPr/>
                    <a:lstStyle/>
                    <a:p>
                      <a:pPr>
                        <a:defRPr b="1" sz="2700">
                          <a:sym typeface="Helvetica Neue"/>
                        </a:defRPr>
                      </a:pPr>
                    </a:p>
                  </a:txBody>
                  <a:tcPr marL="63500" marR="63500" marT="63500" marB="76200" anchor="b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Characteristic	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2700">
                          <a:sym typeface="Helvetica Neue"/>
                        </a:defRPr>
                      </a:pPr>
                      <a:r>
                        <a:t>N = 2,482</a:t>
                      </a:r>
                      <a:r>
                        <a:rPr b="0" baseline="49777" i="1"/>
                        <a:t>1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rowSpan="6"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epc_label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A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552 (22%)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B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436 (18%)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C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529 (21%)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D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389 (16%)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E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336 (14%)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F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240 (9.7%)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rowSpan="3"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building_era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1970-2000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852 (34%)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Post-2000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808 (33%)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Pre-1970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822 (33%)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rowSpan="3"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roof_color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Black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827 (33%)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Other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783 (32%)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Red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872 (35%)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900731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pet_ownership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Yes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983 (40%)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</a:tbl>
          </a:graphicData>
        </a:graphic>
      </p:graphicFrame>
      <p:graphicFrame>
        <p:nvGraphicFramePr>
          <p:cNvPr id="148" name="Table 1-1"/>
          <p:cNvGraphicFramePr/>
          <p:nvPr/>
        </p:nvGraphicFramePr>
        <p:xfrm>
          <a:off x="368300" y="3652027"/>
          <a:ext cx="10075367" cy="585314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479380"/>
                <a:gridCol w="2479380"/>
                <a:gridCol w="5116606"/>
              </a:tblGrid>
              <a:tr h="731643">
                <a:tc>
                  <a:txBody>
                    <a:bodyPr/>
                    <a:lstStyle/>
                    <a:p>
                      <a:pPr>
                        <a:defRPr b="1" sz="3000">
                          <a:sym typeface="Helvetica Neue"/>
                        </a:defRPr>
                      </a:pP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2700">
                          <a:sym typeface="Helvetica Neue"/>
                        </a:rPr>
                        <a:t>Characteristic	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b="1" sz="2700">
                          <a:sym typeface="Helvetica Neue"/>
                        </a:defRPr>
                      </a:pPr>
                      <a:r>
                        <a:t>N = 2,482</a:t>
                      </a:r>
                      <a:r>
                        <a:rPr b="0" baseline="49777" i="1"/>
                        <a:t>1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rowSpan="7"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occupancy_count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1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351 (14%)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2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355 (14%)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343 (14%)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4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378 (15%)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5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375 (15%)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6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341 (14%)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731643">
                <a:tc vMerge="1"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7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339 (14%)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29845" y="-435496"/>
            <a:ext cx="14586992" cy="145869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48400" y="1428700"/>
            <a:ext cx="10858600" cy="10858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ummary tables for continuous varibales"/>
          <p:cNvSpPr txBox="1"/>
          <p:nvPr/>
        </p:nvSpPr>
        <p:spPr>
          <a:xfrm>
            <a:off x="835923" y="537844"/>
            <a:ext cx="5008354" cy="80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500"/>
              </a:spcBef>
              <a:defRPr sz="2133">
                <a:solidFill>
                  <a:srgbClr val="0F4761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Summary tables for continuous varibales</a:t>
            </a:r>
          </a:p>
        </p:txBody>
      </p:sp>
      <p:graphicFrame>
        <p:nvGraphicFramePr>
          <p:cNvPr id="155" name="Table 1-1"/>
          <p:cNvGraphicFramePr/>
          <p:nvPr/>
        </p:nvGraphicFramePr>
        <p:xfrm>
          <a:off x="2749550" y="2012950"/>
          <a:ext cx="17975759" cy="630138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3505873"/>
                <a:gridCol w="7234943"/>
                <a:gridCol w="7234943"/>
              </a:tblGrid>
              <a:tr h="126027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Characteristic</a:t>
                      </a:r>
                    </a:p>
                  </a:txBody>
                  <a:tcPr marL="63500" marR="63500" marT="63500" marB="76200" anchor="b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Mena±sd</a:t>
                      </a:r>
                    </a:p>
                  </a:txBody>
                  <a:tcPr marL="63500" marR="63500" marT="63500" marB="76200" anchor="b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Median, IQR</a:t>
                      </a:r>
                    </a:p>
                  </a:txBody>
                  <a:tcPr marL="63500" marR="63500" marT="63500" marB="76200" anchor="b" anchorCtr="0" horzOverflow="overflow"/>
                </a:tc>
              </a:tr>
              <a:tr h="126027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annual_kwh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14,483± (194,970) 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5,436(4,198, 7,197)]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126027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sq_meters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158± (36)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156(134, 181)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126027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dist_to_brussels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63± (33) 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63(34, 92)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  <a:tr h="1260276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income_euro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48,830± (22,530)</a:t>
                      </a:r>
                    </a:p>
                  </a:txBody>
                  <a:tcPr marL="63500" marR="63500" marT="101600" marB="101600" anchor="ctr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b="1" sz="3000">
                          <a:sym typeface="Helvetica Neue"/>
                        </a:rPr>
                        <a:t>44,546(32,915, 58,818)</a:t>
                      </a:r>
                    </a:p>
                  </a:txBody>
                  <a:tcPr marL="63500" marR="63500" marT="101600" marB="1016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3500" y="1153793"/>
            <a:ext cx="14770200" cy="118161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728700" y="320872"/>
            <a:ext cx="10785601" cy="13482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corr.jpeg" descr="corr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57800" y="93761"/>
            <a:ext cx="15783223" cy="13528478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Correlation plots for continuous variables"/>
          <p:cNvSpPr txBox="1"/>
          <p:nvPr/>
        </p:nvSpPr>
        <p:spPr>
          <a:xfrm>
            <a:off x="1422755" y="10416184"/>
            <a:ext cx="113022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Correlation plots for continuous variables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inital model.jpeg" descr="inital model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59562" y="0"/>
            <a:ext cx="16002001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4" name="Initial_model"/>
          <p:cNvSpPr txBox="1"/>
          <p:nvPr/>
        </p:nvSpPr>
        <p:spPr>
          <a:xfrm>
            <a:off x="2090293" y="2362606"/>
            <a:ext cx="2956814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4500"/>
              </a:spcBef>
              <a:defRPr sz="3800"/>
            </a:lvl1pPr>
          </a:lstStyle>
          <a:p>
            <a:pPr/>
            <a:r>
              <a:t>Initial_model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logmodel.jpeg" descr="logmodel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16551" y="0"/>
            <a:ext cx="16002001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model_log"/>
          <p:cNvSpPr txBox="1"/>
          <p:nvPr/>
        </p:nvSpPr>
        <p:spPr>
          <a:xfrm>
            <a:off x="2765539" y="3785006"/>
            <a:ext cx="3028722" cy="659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spcBef>
                <a:spcPts val="4500"/>
              </a:spcBef>
              <a:defRPr sz="3800"/>
            </a:lvl1pPr>
          </a:lstStyle>
          <a:p>
            <a:pPr/>
            <a:r>
              <a:t>model_log 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Model comparison (initial,log-model, and final) using AIC, BIC, and Adj-R-squared"/>
          <p:cNvSpPr txBox="1"/>
          <p:nvPr/>
        </p:nvSpPr>
        <p:spPr>
          <a:xfrm>
            <a:off x="1007516" y="1018184"/>
            <a:ext cx="2236896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 comparison (initial,log-model, and final) using AIC, BIC, and Adj-R-squared</a:t>
            </a:r>
          </a:p>
        </p:txBody>
      </p:sp>
      <p:graphicFrame>
        <p:nvGraphicFramePr>
          <p:cNvPr id="170" name="Table 1"/>
          <p:cNvGraphicFramePr/>
          <p:nvPr/>
        </p:nvGraphicFramePr>
        <p:xfrm>
          <a:off x="3035299" y="3890317"/>
          <a:ext cx="16923545" cy="616256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5375145"/>
                <a:gridCol w="4319751"/>
                <a:gridCol w="4319751"/>
                <a:gridCol w="2896196"/>
              </a:tblGrid>
              <a:tr h="647138">
                <a:tc gridSpan="4">
                  <a:txBody>
                    <a:bodyPr/>
                    <a:lstStyle/>
                    <a:p>
                      <a:pPr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600">
                          <a:latin typeface="Helvetica Neue Light"/>
                          <a:ea typeface="Helvetica Neue Light"/>
                          <a:cs typeface="Helvetica Neue Light"/>
                        </a:rPr>
                        <a:t>Table 1</a:t>
                      </a:r>
                    </a:p>
                  </a:txBody>
                  <a:tcPr marL="50800" marR="50800" marT="50800" marB="50800" anchor="ctr" anchorCtr="0" horzOverflow="overflow">
                    <a:lnL/>
                    <a:lnR/>
                    <a:lnT/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113161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b="0" sz="3800">
                          <a:solidFill>
                            <a:srgbClr val="000000"/>
                          </a:solidFill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solidFill>
                      <a:schemeClr val="accent1">
                        <a:hueOff val="114395"/>
                        <a:lumOff val="-2497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38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  <a:solidFill>
                      <a:schemeClr val="accent1">
                        <a:hueOff val="114395"/>
                        <a:lumOff val="-2497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38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  <a:solidFill>
                      <a:schemeClr val="accent1">
                        <a:hueOff val="114395"/>
                        <a:lumOff val="-2497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3800"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solidFill>
                      <a:schemeClr val="accent1">
                        <a:hueOff val="114395"/>
                        <a:lumOff val="-24975"/>
                      </a:schemeClr>
                    </a:solidFill>
                  </a:tcPr>
                </a:tc>
              </a:tr>
              <a:tr h="110264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800">
                          <a:sym typeface="Helvetica Neue"/>
                        </a:rPr>
                        <a:t>Model       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      AIC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      BIC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Adj_R2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solidFill>
                      <a:srgbClr val="FFFFFF"/>
                    </a:solidFill>
                  </a:tcPr>
                </a:tc>
              </a:tr>
              <a:tr h="1092133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800">
                          <a:sym typeface="Helvetica Neue"/>
                        </a:rPr>
                        <a:t>Initial_model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39966.475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40094.400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0.881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solidFill>
                      <a:srgbClr val="E3E5E8"/>
                    </a:solidFill>
                  </a:tcPr>
                </a:tc>
              </a:tr>
              <a:tr h="1092133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800">
                          <a:sym typeface="Helvetica Neue"/>
                        </a:rPr>
                        <a:t>model_log   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-3350.746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-3298.412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0.891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solidFill>
                      <a:srgbClr val="FFFFFF"/>
                    </a:solidFill>
                  </a:tcPr>
                </a:tc>
              </a:tr>
              <a:tr h="1102647">
                <a:tc>
                  <a:txBody>
                    <a:bodyPr/>
                    <a:lstStyle/>
                    <a:p>
                      <a:pPr algn="l">
                        <a:spcBef>
                          <a:spcPts val="4500"/>
                        </a:spcBef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3800">
                          <a:sym typeface="Helvetica Neue"/>
                        </a:rPr>
                        <a:t>Final_model   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-3347.589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-3283.627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4500"/>
                        </a:spcBef>
                        <a:defRPr sz="1800"/>
                      </a:pPr>
                      <a:r>
                        <a:rPr sz="3800">
                          <a:sym typeface="Helvetica Neue"/>
                        </a:rPr>
                        <a:t>0.891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  <a:solidFill>
                      <a:srgbClr val="E3E5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Table 1"/>
          <p:cNvGraphicFramePr/>
          <p:nvPr/>
        </p:nvGraphicFramePr>
        <p:xfrm>
          <a:off x="1308134" y="1167730"/>
          <a:ext cx="20221765" cy="113805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454178"/>
                <a:gridCol w="2178085"/>
                <a:gridCol w="3158159"/>
                <a:gridCol w="2423104"/>
                <a:gridCol w="2669412"/>
                <a:gridCol w="2669412"/>
                <a:gridCol w="2669412"/>
              </a:tblGrid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41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Beta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Std. Error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p-value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OR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CI 2.5%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CI 97.5%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(Intercept)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7.220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0.020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1366.238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1313.456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1421.142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sq_meters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1.004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1.004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1.004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epc_labelB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0.087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0.009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1.091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1.071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1.111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epc_labelC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0.157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0.014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1.170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1.137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1.203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epc_labelD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0.238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0.015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1.268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1.232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1.306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epc_labelE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0.316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0.017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1.371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1.325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1.419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epc_labelF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0.394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0.018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1.482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1.431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1.535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Built 1970–2000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-0.009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0.361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0.991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0.973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1.010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Built post-2000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-0.010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0.015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0.531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0.991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0.961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1.020</a:t>
                      </a:r>
                    </a:p>
                  </a:txBody>
                  <a:tcPr marL="91440" marR="91440" marT="0" marB="0" anchor="t" anchorCtr="0" horzOverflow="overflow">
                    <a:solidFill>
                      <a:srgbClr val="D5D5D5"/>
                    </a:solidFill>
                  </a:tcPr>
                </a:tc>
              </a:tr>
              <a:tr h="1034594">
                <a:tc>
                  <a:txBody>
                    <a:bodyPr/>
                    <a:lstStyle/>
                    <a:p>
                      <a:pPr algn="l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occupancy_count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0.151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0.000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1.163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1.160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5900"/>
                        </a:spcBef>
                        <a:defRPr sz="1800"/>
                      </a:pPr>
                      <a:r>
                        <a:rPr sz="4100">
                          <a:sym typeface="Helvetica Neue"/>
                        </a:rPr>
                        <a:t>1.166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Table 1"/>
          <p:cNvGraphicFramePr/>
          <p:nvPr/>
        </p:nvGraphicFramePr>
        <p:xfrm>
          <a:off x="3533526" y="4349154"/>
          <a:ext cx="17316948" cy="765929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013180"/>
                <a:gridCol w="1802795"/>
                <a:gridCol w="2573360"/>
                <a:gridCol w="2829613"/>
                <a:gridCol w="2927062"/>
                <a:gridCol w="2170934"/>
              </a:tblGrid>
              <a:tr h="1276548">
                <a:tc>
                  <a:txBody>
                    <a:bodyPr/>
                    <a:lstStyle/>
                    <a:p>
                      <a:pPr defTabSz="914400">
                        <a:defRPr sz="52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Df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Sum Sq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Mean Sq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 value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Pr(&gt;F)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127654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sq_meters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48.59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48.59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3221.69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27654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36.03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7.21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477.69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27654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building_era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0.91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0.4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27654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220.09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220.09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14591.69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1276548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Residuals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2467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37.21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NA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r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6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NA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  <p:sp>
        <p:nvSpPr>
          <p:cNvPr id="175" name="Text"/>
          <p:cNvSpPr txBox="1"/>
          <p:nvPr/>
        </p:nvSpPr>
        <p:spPr>
          <a:xfrm>
            <a:off x="4140200" y="3409950"/>
            <a:ext cx="486966" cy="342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spcBef>
                <a:spcPts val="800"/>
              </a:spcBef>
              <a:defRPr i="1" sz="16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76" name="Anova Table"/>
          <p:cNvSpPr txBox="1"/>
          <p:nvPr/>
        </p:nvSpPr>
        <p:spPr>
          <a:xfrm>
            <a:off x="2312598" y="1095451"/>
            <a:ext cx="3848482" cy="907898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5400"/>
            </a:lvl1pPr>
          </a:lstStyle>
          <a:p>
            <a:pPr/>
            <a:r>
              <a:t>Anova Table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Table 1"/>
          <p:cNvGraphicFramePr/>
          <p:nvPr/>
        </p:nvGraphicFramePr>
        <p:xfrm>
          <a:off x="2679700" y="3633152"/>
          <a:ext cx="17027029" cy="596507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623500"/>
                <a:gridCol w="3446558"/>
                <a:gridCol w="3446558"/>
                <a:gridCol w="3275597"/>
                <a:gridCol w="4234813"/>
              </a:tblGrid>
              <a:tr h="1284006">
                <a:tc>
                  <a:txBody>
                    <a:bodyPr/>
                    <a:lstStyle/>
                    <a:p>
                      <a:pPr algn="l" defTabSz="914400">
                        <a:defRPr sz="55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OR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CI_2.5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CI_97.5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p.value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93621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 - 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1.0909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1.0666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1.1158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&lt;0.001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3621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C - 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1.1696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1.1300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1.2106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&lt;0.001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3621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 - 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1.2681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1.2231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1.3148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&lt;0.001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3621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 - 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1.3715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1.3148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1.4307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&lt;0.001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3621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 - 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1.4823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1.4191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1.5482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9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&lt;0.001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  <p:sp>
        <p:nvSpPr>
          <p:cNvPr id="179" name="Text"/>
          <p:cNvSpPr txBox="1"/>
          <p:nvPr/>
        </p:nvSpPr>
        <p:spPr>
          <a:xfrm>
            <a:off x="3035300" y="3358197"/>
            <a:ext cx="170756" cy="753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1300"/>
              </a:spcBef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 </a:t>
            </a:r>
          </a:p>
        </p:txBody>
      </p:sp>
      <p:sp>
        <p:nvSpPr>
          <p:cNvPr id="180" name="Contrast results for the EPC Labels"/>
          <p:cNvSpPr txBox="1"/>
          <p:nvPr/>
        </p:nvSpPr>
        <p:spPr>
          <a:xfrm>
            <a:off x="1471066" y="764184"/>
            <a:ext cx="9699652" cy="2281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Contrast results for the EPC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2" name="Table 1"/>
          <p:cNvGraphicFramePr/>
          <p:nvPr/>
        </p:nvGraphicFramePr>
        <p:xfrm>
          <a:off x="3498850" y="6325096"/>
          <a:ext cx="15913696" cy="599340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751788"/>
                <a:gridCol w="3726861"/>
                <a:gridCol w="1258850"/>
                <a:gridCol w="5176195"/>
              </a:tblGrid>
              <a:tr h="998901">
                <a:tc>
                  <a:txBody>
                    <a:bodyPr/>
                    <a:lstStyle/>
                    <a:p>
                      <a:pPr algn="l" defTabSz="914400">
                        <a:defRPr sz="48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GVIF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Df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GVIF^(1/(2*Df))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99890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sq_meters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2.117061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1.455012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9890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12.820059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1.290592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9890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building_era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12.701413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1.887830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9890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1.020948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1.001729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998901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income_euro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2.117228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2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1.455070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  <p:sp>
        <p:nvSpPr>
          <p:cNvPr id="183" name="VIF result after including the income"/>
          <p:cNvSpPr txBox="1"/>
          <p:nvPr/>
        </p:nvSpPr>
        <p:spPr>
          <a:xfrm>
            <a:off x="989111" y="5717184"/>
            <a:ext cx="9881312" cy="2281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VIF result after including the income</a:t>
            </a:r>
          </a:p>
        </p:txBody>
      </p:sp>
      <p:sp>
        <p:nvSpPr>
          <p:cNvPr id="184" name="Model goodness after inclusing income as a regressor"/>
          <p:cNvSpPr txBox="1"/>
          <p:nvPr/>
        </p:nvSpPr>
        <p:spPr>
          <a:xfrm>
            <a:off x="283120" y="383184"/>
            <a:ext cx="14837360" cy="2281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 goodness after inclusing income as a regressor</a:t>
            </a:r>
          </a:p>
        </p:txBody>
      </p:sp>
      <p:graphicFrame>
        <p:nvGraphicFramePr>
          <p:cNvPr id="185" name="Table 1-1"/>
          <p:cNvGraphicFramePr/>
          <p:nvPr/>
        </p:nvGraphicFramePr>
        <p:xfrm>
          <a:off x="3784600" y="2343150"/>
          <a:ext cx="9624120" cy="175929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4418096"/>
                <a:gridCol w="1411244"/>
                <a:gridCol w="3794778"/>
              </a:tblGrid>
              <a:tr h="586432">
                <a:tc>
                  <a:txBody>
                    <a:bodyPr/>
                    <a:lstStyle/>
                    <a:p>
                      <a:pPr algn="l" defTabSz="914400">
                        <a:defRPr sz="49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df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BIC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modelincom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-3238.844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final_model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-3283.627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Table 1"/>
          <p:cNvGraphicFramePr/>
          <p:nvPr/>
        </p:nvGraphicFramePr>
        <p:xfrm>
          <a:off x="2355850" y="1873324"/>
          <a:ext cx="18782804" cy="996935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6681081"/>
                <a:gridCol w="2909140"/>
                <a:gridCol w="3107959"/>
                <a:gridCol w="3376178"/>
                <a:gridCol w="2708445"/>
              </a:tblGrid>
              <a:tr h="586432">
                <a:tc>
                  <a:txBody>
                    <a:bodyPr/>
                    <a:lstStyle/>
                    <a:p>
                      <a:pPr algn="l" defTabSz="914400">
                        <a:defRPr sz="47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Estimate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Std. Error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 value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p-value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(Intercept)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7.37287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0.02054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358.96074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sq_meters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0.00392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0.00010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39.76330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epc_labelB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0.08696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0.00931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9.34052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epc_labelC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0.15669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0.01422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11.01650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epc_labelD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0.23767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0.01493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15.91743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epc_labelE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0.31650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0.01746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18.12915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epc_labelF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0.39413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0.01799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21.91291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building_era1970-2000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-0.00818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0.00944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-0.86619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0.38647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building_eraPost-2000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-0.00890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0.01524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-0.58388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0.55936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0.14616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0.00928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15.74459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0.30127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0.00935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32.21282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0.45892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0.00914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50.22731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0.60170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0.00915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65.78431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0.75188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0.00937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80.22590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0.90614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0.00938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96.61101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income_euro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0.60927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1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0.54240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88605" y="988357"/>
            <a:ext cx="21070513" cy="117392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sults Interaction between EPC Label and Occupancy Count"/>
          <p:cNvSpPr txBox="1"/>
          <p:nvPr/>
        </p:nvSpPr>
        <p:spPr>
          <a:xfrm>
            <a:off x="621357" y="713384"/>
            <a:ext cx="1705081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Results Interaction between EPC Label and Occupancy Count</a:t>
            </a:r>
          </a:p>
        </p:txBody>
      </p:sp>
      <p:graphicFrame>
        <p:nvGraphicFramePr>
          <p:cNvPr id="192" name="Table 1"/>
          <p:cNvGraphicFramePr/>
          <p:nvPr/>
        </p:nvGraphicFramePr>
        <p:xfrm>
          <a:off x="2432050" y="2311400"/>
          <a:ext cx="18258334" cy="1055578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7558772"/>
                <a:gridCol w="2667495"/>
                <a:gridCol w="2883261"/>
                <a:gridCol w="2822359"/>
                <a:gridCol w="2326445"/>
              </a:tblGrid>
              <a:tr h="586432">
                <a:tc>
                  <a:txBody>
                    <a:bodyPr/>
                    <a:lstStyle/>
                    <a:p>
                      <a:pPr algn="l" defTabSz="914400">
                        <a:defRPr sz="4900">
                          <a:sym typeface="Helvetica Neue"/>
                        </a:defRPr>
                      </a:pP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Estimate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Std. Error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 value</a:t>
                      </a:r>
                    </a:p>
                  </a:txBody>
                  <a:tcPr marL="91440" marR="91440" marT="0" marB="0" anchor="b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p-value</a:t>
                      </a:r>
                    </a:p>
                  </a:txBody>
                  <a:tcPr marL="91440" marR="91440" marT="0" marB="0" anchor="b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(Intercept)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7.6770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0.0151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510.0345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0.1580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0.0129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12.2821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0.3038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0.0130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23.3722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0.4661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0.0127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36.7655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0.5914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0.0127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46.5063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0.7620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0.0133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57.4203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0.9087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0.0132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69.0967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-0.0913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0.0178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-5.1266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sq_meters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0.0039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53.2163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building_era1970-2000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-0.1290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0.0070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-18.4861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building_eraPost-2000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-0.1895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0.0131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-14.4834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0.0000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occupancy_count2:epc_high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-0.0149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-0.7183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0.4726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occupancy_count3:epc_high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-0.0027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-0.1285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0.8978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occupancy_count4:epc_high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-0.0152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0.0205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-0.7443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0.4568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occupancy_count5:epc_high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0.0149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0.0204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0.7297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0.4657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occupancy_count6:epc_high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-0.0196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-0.9436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0.3454</a:t>
                      </a:r>
                    </a:p>
                  </a:txBody>
                  <a:tcPr marL="91440" marR="91440" marT="0" marB="0" anchor="t" anchorCtr="0" horzOverflow="overflow"/>
                </a:tc>
              </a:tr>
              <a:tr h="586432"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occupancy_count7:epc_high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-0.0108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0.0209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-0.5180</a:t>
                      </a:r>
                    </a:p>
                  </a:txBody>
                  <a:tcPr marL="91440" marR="91440" marT="0" marB="0" anchor="t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spcBef>
                          <a:spcPts val="200"/>
                        </a:spcBef>
                        <a:defRPr sz="1800"/>
                      </a:pPr>
                      <a:r>
                        <a:rPr sz="3300"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0.6045</a:t>
                      </a:r>
                    </a:p>
                  </a:txBody>
                  <a:tcPr marL="91440" marR="91440" marT="0" marB="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